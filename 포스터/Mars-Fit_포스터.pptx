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0" cy="4320000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0" cy="5400000"/>
          </a:xfrm>
          <a:prstGeom prst="rect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64000"/>
            <a:ext cx="32400000" cy="936000"/>
          </a:xfrm>
          <a:prstGeom prst="rect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28000" y="756000"/>
            <a:ext cx="201600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3050" b="1">
                <a:solidFill>
                  <a:srgbClr val="F2B86A"/>
                </a:solidFill>
                <a:latin typeface="나눔스퀘어_ac Bold"/>
              </a:rPr>
              <a:t>2026 AI화성 챌린지 in 수원대학교   ·   최우수상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8000" y="1692000"/>
            <a:ext cx="2520000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6100" b="1">
                <a:solidFill>
                  <a:srgbClr val="FFFFFF"/>
                </a:solidFill>
                <a:latin typeface="나눔스퀘어_ac Bold"/>
              </a:rPr>
              <a:t>Mars-Fit — 화성시 소상공인 AI 경영동행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000" y="3636000"/>
            <a:ext cx="2520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928" b="0">
                <a:solidFill>
                  <a:srgbClr val="C7D4E6"/>
                </a:solidFill>
                <a:latin typeface="맑은 고딕"/>
              </a:rPr>
              <a:t>흩어진 지원사업을 내 조건으로 판정하고, 서류 준비와 신청까지 데려다주는 웹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8000" y="4572000"/>
            <a:ext cx="25200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562" b="1">
                <a:solidFill>
                  <a:srgbClr val="FFFFFF"/>
                </a:solidFill>
                <a:latin typeface="맑은 고딕"/>
              </a:rPr>
              <a:t>임대윤 · 전서희 · 전성현</a:t>
            </a:r>
            <a:r>
              <a:rPr sz="2562" b="0">
                <a:solidFill>
                  <a:srgbClr val="A9BCD6"/>
                </a:solidFill>
                <a:latin typeface="맑은 고딕"/>
              </a:rPr>
              <a:t>     수원대학교 데이터과학부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44000" y="720000"/>
            <a:ext cx="3960000" cy="39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000" y="936000"/>
            <a:ext cx="3528000" cy="352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144000" y="4752000"/>
            <a:ext cx="3960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830" b="0">
                <a:solidFill>
                  <a:srgbClr val="C7D4E6"/>
                </a:solidFill>
                <a:latin typeface="맑은 고딕"/>
              </a:rPr>
              <a:t>휴대폰으로 열어보세요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2516000"/>
            <a:ext cx="3240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952" b="0">
                <a:solidFill>
                  <a:srgbClr val="B9CBE2"/>
                </a:solidFill>
                <a:latin typeface="맑은 고딕"/>
              </a:rPr>
              <a:t>https://ai-hwaseong-ten.vercel.app     ·     React 18 + Vite  ·  Vercel Serverless  ·  Supabase  ·  제공 서버 cron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6319800"/>
            <a:ext cx="15408000" cy="477902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0000" y="5904000"/>
            <a:ext cx="7776000" cy="756000"/>
          </a:xfrm>
          <a:prstGeom prst="roundRect">
            <a:avLst>
              <a:gd name="adj" fmla="val 42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3660" b="1">
                <a:solidFill>
                  <a:srgbClr val="FFFFFF"/>
                </a:solidFill>
                <a:latin typeface="나눔스퀘어_ac Bold"/>
              </a:rPr>
              <a:t>왜 만들었나</a:t>
            </a:r>
          </a:p>
        </p:txBody>
      </p:sp>
      <p:sp>
        <p:nvSpPr>
          <p:cNvPr id="13" name="Oval 12"/>
          <p:cNvSpPr/>
          <p:nvPr/>
        </p:nvSpPr>
        <p:spPr>
          <a:xfrm>
            <a:off x="986400" y="7106400"/>
            <a:ext cx="108000" cy="108000"/>
          </a:xfrm>
          <a:prstGeom prst="ellipse">
            <a:avLst/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0000" y="6984000"/>
            <a:ext cx="14076000" cy="8061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562" b="1">
                <a:solidFill>
                  <a:srgbClr val="003670"/>
                </a:solidFill>
                <a:latin typeface="맑은 고딕"/>
              </a:rPr>
              <a:t>지원사업이 한곳에 모여 있지 않다.</a:t>
            </a:r>
            <a:r>
              <a:rPr sz="2562" b="0">
                <a:solidFill>
                  <a:srgbClr val="2B2B2B"/>
                </a:solidFill>
                <a:latin typeface="맑은 고딕"/>
              </a:rPr>
              <a:t> 중앙(기업마당)과 화성시청 고시공고를 따로 뒤져야 한다.</a:t>
            </a:r>
          </a:p>
        </p:txBody>
      </p:sp>
      <p:sp>
        <p:nvSpPr>
          <p:cNvPr id="15" name="Oval 14"/>
          <p:cNvSpPr/>
          <p:nvPr/>
        </p:nvSpPr>
        <p:spPr>
          <a:xfrm>
            <a:off x="986400" y="7970107"/>
            <a:ext cx="108000" cy="108000"/>
          </a:xfrm>
          <a:prstGeom prst="ellipse">
            <a:avLst/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7847707"/>
            <a:ext cx="14076000" cy="12091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562" b="1">
                <a:solidFill>
                  <a:srgbClr val="003670"/>
                </a:solidFill>
                <a:latin typeface="맑은 고딕"/>
              </a:rPr>
              <a:t>화성시가 직접 하는 사업은 중앙 목록에 안 올라온다.</a:t>
            </a:r>
            <a:r>
              <a:rPr sz="2562" b="0">
                <a:solidFill>
                  <a:srgbClr val="2B2B2B"/>
                </a:solidFill>
                <a:latin typeface="맑은 고딕"/>
              </a:rPr>
              <a:t> 소상공인 자금지원(특례보증 5천만원·이차보전 2%)과 저신용 미소금융 이자지원이 그렇다 — 지금 열려 있는데 중앙에서는 보이지 않는다.</a:t>
            </a:r>
          </a:p>
        </p:txBody>
      </p:sp>
      <p:sp>
        <p:nvSpPr>
          <p:cNvPr id="17" name="Oval 16"/>
          <p:cNvSpPr/>
          <p:nvPr/>
        </p:nvSpPr>
        <p:spPr>
          <a:xfrm>
            <a:off x="986400" y="9236869"/>
            <a:ext cx="108000" cy="108000"/>
          </a:xfrm>
          <a:prstGeom prst="ellipse">
            <a:avLst/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0000" y="9114469"/>
            <a:ext cx="14076000" cy="8061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562" b="1">
                <a:solidFill>
                  <a:srgbClr val="003670"/>
                </a:solidFill>
                <a:latin typeface="맑은 고딕"/>
              </a:rPr>
              <a:t>자격 요건이 공문서 언어다.</a:t>
            </a:r>
            <a:r>
              <a:rPr sz="2562" b="0">
                <a:solidFill>
                  <a:srgbClr val="2B2B2B"/>
                </a:solidFill>
                <a:latin typeface="맑은 고딕"/>
              </a:rPr>
              <a:t> 「내가 되는지」를 사장님이 스스로 판단하기 어렵다.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000" y="10172576"/>
            <a:ext cx="14400000" cy="4222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684" b="1">
                <a:solidFill>
                  <a:srgbClr val="CB6B3D"/>
                </a:solidFill>
                <a:latin typeface="맑은 고딕"/>
              </a:rPr>
              <a:t>그리고 마감은 되돌릴 수 없다.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000" y="11946623"/>
            <a:ext cx="15408000" cy="126877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20000" y="11530823"/>
            <a:ext cx="7776000" cy="756000"/>
          </a:xfrm>
          <a:prstGeom prst="roundRect">
            <a:avLst>
              <a:gd name="adj" fmla="val 42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3660" b="1">
                <a:solidFill>
                  <a:srgbClr val="FFFFFF"/>
                </a:solidFill>
                <a:latin typeface="나눔스퀘어_ac Bold"/>
              </a:rPr>
              <a:t>사장님이 겪는 흐름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000" y="12610823"/>
            <a:ext cx="2649600" cy="792000"/>
          </a:xfrm>
          <a:prstGeom prst="roundRect">
            <a:avLst>
              <a:gd name="adj" fmla="val 34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FFFFFF"/>
                </a:solidFill>
                <a:latin typeface="맑은 고딕"/>
              </a:rPr>
              <a:t>등록증 사진 1장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5600" y="12592823"/>
            <a:ext cx="288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73600" y="12610823"/>
            <a:ext cx="2649600" cy="792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524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003670"/>
                </a:solidFill>
                <a:latin typeface="맑은 고딕"/>
              </a:rPr>
              <a:t>조건 자동 매칭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3200" y="12592823"/>
            <a:ext cx="288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1200" y="12610823"/>
            <a:ext cx="2649600" cy="792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524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003670"/>
                </a:solidFill>
                <a:latin typeface="맑은 고딕"/>
              </a:rPr>
              <a:t>조건별 판정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0799" y="12592823"/>
            <a:ext cx="288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48799" y="12610823"/>
            <a:ext cx="2649600" cy="792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524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003670"/>
                </a:solidFill>
                <a:latin typeface="맑은 고딕"/>
              </a:rPr>
              <a:t>서류 발급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98400" y="12592823"/>
            <a:ext cx="288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86400" y="12610823"/>
            <a:ext cx="2649600" cy="792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524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003670"/>
                </a:solidFill>
                <a:latin typeface="맑은 고딕"/>
              </a:rPr>
              <a:t>접수 · 알림</a:t>
            </a:r>
          </a:p>
        </p:txBody>
      </p:sp>
      <p:pic>
        <p:nvPicPr>
          <p:cNvPr id="31" name="Picture 30" descr="on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000" y="13762823"/>
            <a:ext cx="6656567" cy="8352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728000" y="13762823"/>
            <a:ext cx="6656567" cy="8352000"/>
          </a:xfrm>
          <a:prstGeom prst="rect">
            <a:avLst/>
          </a:prstGeom>
          <a:noFill/>
          <a:ln w="1143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home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567" y="13762823"/>
            <a:ext cx="4263455" cy="8352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9176567" y="13762823"/>
            <a:ext cx="4263455" cy="8352000"/>
          </a:xfrm>
          <a:prstGeom prst="rect">
            <a:avLst/>
          </a:prstGeom>
          <a:noFill/>
          <a:ln w="1143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28000" y="22222823"/>
            <a:ext cx="6656567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830" b="0">
                <a:solidFill>
                  <a:srgbClr val="6B6459"/>
                </a:solidFill>
                <a:latin typeface="맑은 고딕"/>
              </a:rPr>
              <a:t>등록증을 올리면 자동으로 읽는다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6567" y="22222823"/>
            <a:ext cx="4263455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830" b="0">
                <a:solidFill>
                  <a:srgbClr val="6B6459"/>
                </a:solidFill>
                <a:latin typeface="맑은 고딕"/>
              </a:rPr>
              <a:t>내 조건으로 걸러진 목록 · 긴급 마감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000" y="22978823"/>
            <a:ext cx="14400000" cy="11515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사진 한 장이면 시작된다.</a:t>
            </a:r>
            <a:r>
              <a:rPr sz="2440" b="0">
                <a:solidFill>
                  <a:srgbClr val="2B2B2B"/>
                </a:solidFill>
                <a:latin typeface="맑은 고딕"/>
              </a:rPr>
              <a:t> 사업자등록증을 찍으면 상호·업종·개업일을 읽어 프로필을 채운다. 사진은 메모리에서만 읽고 저장하지 않으며 등록증 전문도 돌려주지 않는다.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32000" y="25482206"/>
            <a:ext cx="15408000" cy="1577110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20000" y="25066406"/>
            <a:ext cx="7776000" cy="756000"/>
          </a:xfrm>
          <a:prstGeom prst="roundRect">
            <a:avLst>
              <a:gd name="adj" fmla="val 42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3660" b="1">
                <a:solidFill>
                  <a:srgbClr val="FFFFFF"/>
                </a:solidFill>
                <a:latin typeface="나눔스퀘어_ac Bold"/>
              </a:rPr>
              <a:t>조건 판정 매칭 엔진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000" y="26146406"/>
            <a:ext cx="14400000" cy="7677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공고 한 건을 12개 조건축으로 쪼개</a:t>
            </a:r>
            <a:r>
              <a:rPr sz="2440" b="0">
                <a:solidFill>
                  <a:srgbClr val="2B2B2B"/>
                </a:solidFill>
                <a:latin typeface="맑은 고딕"/>
              </a:rPr>
              <a:t> 사장님 프로필과 하나씩 맞춰본다. 「지원사업 목록」이 아니라 「판정」을 준다.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6000" y="27202127"/>
            <a:ext cx="14400000" cy="1152000"/>
          </a:xfrm>
          <a:prstGeom prst="roundRect">
            <a:avLst>
              <a:gd name="adj" fmla="val 14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52000" y="27382127"/>
            <a:ext cx="13968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74" b="0">
                <a:solidFill>
                  <a:srgbClr val="003670"/>
                </a:solidFill>
                <a:latin typeface="맑은 고딕"/>
              </a:rPr>
              <a:t>지역 · 업종 · 나이 · 사업 상태 · 사업자 형태 · 창업 경험 · 소득·자산 구간</a:t>
            </a:r>
          </a:p>
          <a:p>
            <a:pPr algn="ctr">
              <a:lnSpc>
                <a:spcPct val="130000"/>
              </a:lnSpc>
              <a:spcBef>
                <a:spcPts val="207"/>
              </a:spcBef>
            </a:pPr>
            <a:r>
              <a:rPr sz="2074" b="0">
                <a:solidFill>
                  <a:srgbClr val="003670"/>
                </a:solidFill>
                <a:latin typeface="맑은 고딕"/>
              </a:rPr>
              <a:t>운영 기간 · 연 매출 · 혼인 상태 · 부모 동거 여부 · 지원 자격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6000" y="28642127"/>
            <a:ext cx="14400000" cy="908121"/>
          </a:xfrm>
          <a:prstGeom prst="roundRect">
            <a:avLst>
              <a:gd name="adj" fmla="val 1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000" y="28822127"/>
            <a:ext cx="13896000" cy="5481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2928" b="1">
                <a:solidFill>
                  <a:srgbClr val="003670"/>
                </a:solidFill>
                <a:latin typeface="Consolas"/>
              </a:rPr>
              <a:t>매칭 점수 =  Σ( wᵢ × vᵢ )  ÷  Σ wᵢ  × 100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6000" y="29910249"/>
            <a:ext cx="14400000" cy="540000"/>
          </a:xfrm>
          <a:prstGeom prst="roundRect">
            <a:avLst>
              <a:gd name="adj" fmla="val 14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6000" y="30039849"/>
            <a:ext cx="2448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952" b="0">
                <a:solidFill>
                  <a:srgbClr val="C7D4E6"/>
                </a:solidFill>
                <a:latin typeface="맑은 고딕"/>
              </a:rPr>
              <a:t>판정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24000" y="30039849"/>
            <a:ext cx="669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52" b="0">
                <a:solidFill>
                  <a:srgbClr val="C7D4E6"/>
                </a:solidFill>
                <a:latin typeface="맑은 고딕"/>
              </a:rPr>
              <a:t>무슨 뜻인가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80000" y="30039849"/>
            <a:ext cx="151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952" b="0">
                <a:solidFill>
                  <a:srgbClr val="C7D4E6"/>
                </a:solidFill>
                <a:latin typeface="맑은 고딕"/>
              </a:rPr>
              <a:t>조건값 vᵢ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52000" y="30039849"/>
            <a:ext cx="230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952" b="0">
                <a:solidFill>
                  <a:srgbClr val="C7D4E6"/>
                </a:solidFill>
                <a:latin typeface="맑은 고딕"/>
              </a:rPr>
              <a:t>오늘 74건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52000" y="30594249"/>
            <a:ext cx="2376000" cy="468000"/>
          </a:xfrm>
          <a:prstGeom prst="roundRect">
            <a:avLst>
              <a:gd name="adj" fmla="val 40000"/>
            </a:avLst>
          </a:prstGeom>
          <a:solidFill>
            <a:srgbClr val="0E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FFFFFF"/>
                </a:solidFill>
                <a:latin typeface="맑은 고딕"/>
              </a:rPr>
              <a:t>신청가능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24000" y="30630249"/>
            <a:ext cx="669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0">
                <a:solidFill>
                  <a:srgbClr val="2B2B2B"/>
                </a:solidFill>
                <a:latin typeface="맑은 고딕"/>
              </a:rPr>
              <a:t>조건이 모두 맞는다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80000" y="30630249"/>
            <a:ext cx="151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318" b="1">
                <a:solidFill>
                  <a:srgbClr val="0E7A5A"/>
                </a:solidFill>
                <a:latin typeface="맑은 고딕"/>
              </a:rPr>
              <a:t>1.0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52000" y="30630249"/>
            <a:ext cx="230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318" b="0">
                <a:solidFill>
                  <a:srgbClr val="2B2B2B"/>
                </a:solidFill>
                <a:latin typeface="맑은 고딕"/>
              </a:rPr>
              <a:t>31건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80000" y="31206249"/>
            <a:ext cx="14112000" cy="1440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52000" y="31350249"/>
            <a:ext cx="2376000" cy="468000"/>
          </a:xfrm>
          <a:prstGeom prst="roundRect">
            <a:avLst>
              <a:gd name="adj" fmla="val 40000"/>
            </a:avLst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FFFFFF"/>
                </a:solidFill>
                <a:latin typeface="맑은 고딕"/>
              </a:rPr>
              <a:t>확인필요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24000" y="31386249"/>
            <a:ext cx="669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0">
                <a:solidFill>
                  <a:srgbClr val="2B2B2B"/>
                </a:solidFill>
                <a:latin typeface="맑은 고딕"/>
              </a:rPr>
              <a:t>공고문만으로는 판단이 서지 않는다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80000" y="31386249"/>
            <a:ext cx="151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318" b="1">
                <a:solidFill>
                  <a:srgbClr val="CB6B3D"/>
                </a:solidFill>
                <a:latin typeface="맑은 고딕"/>
              </a:rPr>
              <a:t>0.5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52000" y="31386249"/>
            <a:ext cx="230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318" b="0">
                <a:solidFill>
                  <a:srgbClr val="2B2B2B"/>
                </a:solidFill>
                <a:latin typeface="맑은 고딕"/>
              </a:rPr>
              <a:t>27건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0000" y="31962249"/>
            <a:ext cx="14112000" cy="14400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152000" y="32106249"/>
            <a:ext cx="2376000" cy="468000"/>
          </a:xfrm>
          <a:prstGeom prst="roundRect">
            <a:avLst>
              <a:gd name="adj" fmla="val 40000"/>
            </a:avLst>
          </a:prstGeom>
          <a:solidFill>
            <a:srgbClr val="6B6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952" b="1">
                <a:solidFill>
                  <a:srgbClr val="FFFFFF"/>
                </a:solidFill>
                <a:latin typeface="맑은 고딕"/>
              </a:rPr>
              <a:t>대상아님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24000" y="32142249"/>
            <a:ext cx="6696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0">
                <a:solidFill>
                  <a:srgbClr val="2B2B2B"/>
                </a:solidFill>
                <a:latin typeface="맑은 고딕"/>
              </a:rPr>
              <a:t>맞지 않는 조건이 분명히 있다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80000" y="32142249"/>
            <a:ext cx="151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318" b="1">
                <a:solidFill>
                  <a:srgbClr val="6B6459"/>
                </a:solidFill>
                <a:latin typeface="맑은 고딕"/>
              </a:rPr>
              <a:t>0.0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52000" y="32142249"/>
            <a:ext cx="2304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2318" b="0">
                <a:solidFill>
                  <a:srgbClr val="2B2B2B"/>
                </a:solidFill>
                <a:latin typeface="맑은 고딕"/>
              </a:rPr>
              <a:t>16건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6000" y="29910249"/>
            <a:ext cx="14400000" cy="280800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ju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000" y="33042249"/>
            <a:ext cx="3668990" cy="540000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936000" y="33042249"/>
            <a:ext cx="3668990" cy="5400000"/>
          </a:xfrm>
          <a:prstGeom prst="rect">
            <a:avLst/>
          </a:prstGeom>
          <a:noFill/>
          <a:ln w="1143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80990" y="33006249"/>
            <a:ext cx="10155010" cy="383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「확인필요」를 지우지 않는다.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80990" y="33534110"/>
            <a:ext cx="10155010" cy="103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196" b="0">
                <a:solidFill>
                  <a:srgbClr val="2B2B2B"/>
                </a:solidFill>
                <a:latin typeface="맑은 고딕"/>
              </a:rPr>
              <a:t>모르는 것을 아는 척도, 모르는 척도 하지 않는다. 업종이 못 박힌 공고는 대상아님이 아니라 확인필요로 내린다 — 제조업을 겸하는 사장님이 있기 때문이다.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80990" y="34966534"/>
            <a:ext cx="10155010" cy="383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조건마다 무게가 다르다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0990" y="35494395"/>
            <a:ext cx="10155010" cy="103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196" b="0">
                <a:solidFill>
                  <a:srgbClr val="2B2B2B"/>
                </a:solidFill>
                <a:latin typeface="맑은 고딕"/>
              </a:rPr>
              <a:t>「소상공인이면 누구나」에는 0.7점만 준다. 자격은 되지만 나에게 맞는 사업은 아니다. 1.0 을 주면 요건이 그것뿐인 공고가 전부 100점으로 묶여 순위가 사라진다.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80990" y="36926819"/>
            <a:ext cx="10155010" cy="383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「불충족」은 확실할 때만 쓴다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80990" y="37454680"/>
            <a:ext cx="10155010" cy="6909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196" b="0">
                <a:solidFill>
                  <a:srgbClr val="2B2B2B"/>
                </a:solidFill>
                <a:latin typeface="맑은 고딕"/>
              </a:rPr>
              <a:t>하나라도 있으면 그 공고는 대상아님이 되어 목록에서 사라진다. 애매한 것은 여기 넣지 않고 확인필요로 남긴다.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6000" y="38802249"/>
            <a:ext cx="14400000" cy="1947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오늘 74건에서 조건 309개를 판정했다</a:t>
            </a:r>
            <a:r>
              <a:rPr sz="2318" b="0">
                <a:solidFill>
                  <a:srgbClr val="2B2B2B"/>
                </a:solidFill>
                <a:latin typeface="맑은 고딕"/>
              </a:rPr>
              <a:t> — 충족 247 · 확인필요 46 · 불충족 16. 공고마다 서류도 같이 붙는다(195개 · 52종).</a:t>
            </a:r>
          </a:p>
          <a:p>
            <a:pPr algn="l">
              <a:lnSpc>
                <a:spcPct val="124000"/>
              </a:lnSpc>
              <a:spcBef>
                <a:spcPts val="973"/>
              </a:spcBef>
            </a:pPr>
            <a:r>
              <a:rPr sz="2318" b="1">
                <a:solidFill>
                  <a:srgbClr val="003670"/>
                </a:solidFill>
                <a:latin typeface="맑은 고딕"/>
              </a:rPr>
              <a:t>줄 세우기는 접수중 먼저, 그 안에서 점수순이다.</a:t>
            </a:r>
            <a:r>
              <a:rPr sz="2318" b="0">
                <a:solidFill>
                  <a:srgbClr val="2B2B2B"/>
                </a:solidFill>
                <a:latin typeface="맑은 고딕"/>
              </a:rPr>
              <a:t> 판정을 점수보다 먼저 보면, 화성시 사업이 서류 한 줄로 확인필요가 되는 순간 전국 공고 수십 건 아래로 밀린다. 확인필요는 이미 0.5 로 반영돼 있다.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6560000" y="6319800"/>
            <a:ext cx="15408000" cy="1183311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6848000" y="5904000"/>
            <a:ext cx="7776000" cy="756000"/>
          </a:xfrm>
          <a:prstGeom prst="roundRect">
            <a:avLst>
              <a:gd name="adj" fmla="val 42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3660" b="1">
                <a:solidFill>
                  <a:srgbClr val="FFFFFF"/>
                </a:solidFill>
                <a:latin typeface="나눔스퀘어_ac Bold"/>
              </a:rPr>
              <a:t>서류는 계산해서 알려준다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064000" y="6984000"/>
            <a:ext cx="14400000" cy="11515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찾아주는 데서 끝내지 않는다.</a:t>
            </a:r>
            <a:r>
              <a:rPr sz="2440" b="0">
                <a:solidFill>
                  <a:srgbClr val="2B2B2B"/>
                </a:solidFill>
                <a:latin typeface="맑은 고딕"/>
              </a:rPr>
              <a:t> 판정이 끝나면 「그래서 뭘 내야 하나」가 남는다. 공고마다 낼 서류가 다르고, 오늘 74건에 서류가 195개 · 52종 붙어 있다.</a:t>
            </a:r>
          </a:p>
        </p:txBody>
      </p:sp>
      <p:pic>
        <p:nvPicPr>
          <p:cNvPr id="77" name="Picture 76" descr="app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4000" y="8495582"/>
            <a:ext cx="5432870" cy="640800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17064000" y="8495582"/>
            <a:ext cx="5432869" cy="6408000"/>
          </a:xfrm>
          <a:prstGeom prst="rect">
            <a:avLst/>
          </a:prstGeom>
          <a:noFill/>
          <a:ln w="1143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072869" y="8459582"/>
            <a:ext cx="8391130" cy="4030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562" b="1">
                <a:solidFill>
                  <a:srgbClr val="003670"/>
                </a:solidFill>
                <a:latin typeface="맑은 고딕"/>
              </a:rPr>
              <a:t>세 단계로 계산한다</a:t>
            </a:r>
          </a:p>
        </p:txBody>
      </p:sp>
      <p:sp>
        <p:nvSpPr>
          <p:cNvPr id="80" name="Oval 79"/>
          <p:cNvSpPr/>
          <p:nvPr/>
        </p:nvSpPr>
        <p:spPr>
          <a:xfrm>
            <a:off x="23072869" y="9006636"/>
            <a:ext cx="324000" cy="324000"/>
          </a:xfrm>
          <a:prstGeom prst="ellipse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3540869" y="8898636"/>
            <a:ext cx="7923130" cy="36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공고문에서 뽑는다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540869" y="9335303"/>
            <a:ext cx="7923130" cy="9788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074" b="0">
                <a:solidFill>
                  <a:srgbClr val="2B2B2B"/>
                </a:solidFill>
                <a:latin typeface="맑은 고딕"/>
              </a:rPr>
              <a:t>「제출서류·구비서류」 머리말 아래의 표와 목록을 읽는다. 쉼표로 묶인 줄은 나누고, 서류명 뒤에 붙은 발급처 안내는 떼어낸다.</a:t>
            </a:r>
          </a:p>
        </p:txBody>
      </p:sp>
      <p:sp>
        <p:nvSpPr>
          <p:cNvPr id="83" name="Oval 82"/>
          <p:cNvSpPr/>
          <p:nvPr/>
        </p:nvSpPr>
        <p:spPr>
          <a:xfrm>
            <a:off x="23072869" y="10674149"/>
            <a:ext cx="324000" cy="324000"/>
          </a:xfrm>
          <a:prstGeom prst="ellipse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540869" y="10566149"/>
            <a:ext cx="7923130" cy="36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프로필로 거른다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540869" y="11002816"/>
            <a:ext cx="7923130" cy="9788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074" b="0">
                <a:solidFill>
                  <a:srgbClr val="2B2B2B"/>
                </a:solidFill>
                <a:latin typeface="맑은 고딕"/>
              </a:rPr>
              <a:t>서류마다 조건이 달려 있다 — 「직원이 있으면 4대보험 가입자명부」처럼. 값을 모르면 일단 남긴다. 빠뜨리는 쪽이 더 나쁘다.</a:t>
            </a:r>
          </a:p>
        </p:txBody>
      </p:sp>
      <p:sp>
        <p:nvSpPr>
          <p:cNvPr id="86" name="Oval 85"/>
          <p:cNvSpPr/>
          <p:nvPr/>
        </p:nvSpPr>
        <p:spPr>
          <a:xfrm>
            <a:off x="23072869" y="12341661"/>
            <a:ext cx="324000" cy="324000"/>
          </a:xfrm>
          <a:prstGeom prst="ellipse">
            <a:avLst/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540869" y="12233661"/>
            <a:ext cx="7923130" cy="36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발급 정보를 붙인다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540869" y="12670329"/>
            <a:ext cx="7923130" cy="6525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074" b="0">
                <a:solidFill>
                  <a:srgbClr val="2B2B2B"/>
                </a:solidFill>
                <a:latin typeface="맑은 고딕"/>
              </a:rPr>
              <a:t>발급 절차·수수료·소요시간을 얹고, 공통필수 · 조건부필수 · 해당시제출로 갈라 적는다.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072869" y="13610892"/>
            <a:ext cx="8391130" cy="4030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562" b="1">
                <a:solidFill>
                  <a:srgbClr val="003670"/>
                </a:solidFill>
                <a:latin typeface="맑은 고딕"/>
              </a:rPr>
              <a:t>그리고 그 기관으로 바로 보낸다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072869" y="14121946"/>
            <a:ext cx="8391130" cy="6525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074" b="0">
                <a:solidFill>
                  <a:srgbClr val="2B2B2B"/>
                </a:solidFill>
                <a:latin typeface="맑은 고딕"/>
              </a:rPr>
              <a:t>「발급 절차 보기」를 누르면 사장님이 홈택스·정부24 를 따로 찾아 들어갈 일이 없다.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7064000" y="15263582"/>
            <a:ext cx="14400000" cy="1512000"/>
          </a:xfrm>
          <a:prstGeom prst="roundRect">
            <a:avLst>
              <a:gd name="adj" fmla="val 1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7352000" y="15443582"/>
            <a:ext cx="13824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830" b="0">
                <a:solidFill>
                  <a:srgbClr val="6B6459"/>
                </a:solidFill>
                <a:latin typeface="맑은 고딕"/>
              </a:rPr>
              <a:t>서류 26종에 붙여둔 발급처 — 온라인 절차 24종 · 바로 가는 링크 16종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7352000" y="16019582"/>
            <a:ext cx="2620800" cy="540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143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003670"/>
                </a:solidFill>
                <a:latin typeface="맑은 고딕"/>
              </a:rPr>
              <a:t>홈택스 7종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0152800" y="16019582"/>
            <a:ext cx="2620800" cy="540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143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003670"/>
                </a:solidFill>
                <a:latin typeface="맑은 고딕"/>
              </a:rPr>
              <a:t>정부24 5종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2953599" y="16019582"/>
            <a:ext cx="2620800" cy="540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143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003670"/>
                </a:solidFill>
                <a:latin typeface="맑은 고딕"/>
              </a:rPr>
              <a:t>건강보험공단 2종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5754399" y="16019582"/>
            <a:ext cx="2620800" cy="540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143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003670"/>
                </a:solidFill>
                <a:latin typeface="맑은 고딕"/>
              </a:rPr>
              <a:t>대법원 전자가족관계 1종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8555199" y="16019582"/>
            <a:ext cx="2620800" cy="5400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 w="11430">
            <a:solidFill>
              <a:srgbClr val="003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1586" b="1">
                <a:solidFill>
                  <a:srgbClr val="003670"/>
                </a:solidFill>
                <a:latin typeface="맑은 고딕"/>
              </a:rPr>
              <a:t>중소벤처24 1종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064000" y="16919582"/>
            <a:ext cx="14400000" cy="729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체크한 것은 공고마다 따로 남는다.</a:t>
            </a:r>
            <a:r>
              <a:rPr sz="2318" b="0">
                <a:solidFill>
                  <a:srgbClr val="2B2B2B"/>
                </a:solidFill>
                <a:latin typeface="맑은 고딕"/>
              </a:rPr>
              <a:t> 발급 3개월 이내 서류만 인정된다는 것도 같이 적는다.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6560000" y="19000717"/>
            <a:ext cx="15408000" cy="1143544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6848000" y="18584917"/>
            <a:ext cx="7776000" cy="756000"/>
          </a:xfrm>
          <a:prstGeom prst="roundRect">
            <a:avLst>
              <a:gd name="adj" fmla="val 42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3660" b="1">
                <a:solidFill>
                  <a:srgbClr val="FFFFFF"/>
                </a:solidFill>
                <a:latin typeface="나눔스퀘어_ac Bold"/>
              </a:rPr>
              <a:t>상권 추천 알고리즘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064000" y="19664917"/>
            <a:ext cx="14400000" cy="7677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업종을 고르면 자리를 추천한다.</a:t>
            </a:r>
            <a:r>
              <a:rPr sz="2440" b="0">
                <a:solidFill>
                  <a:srgbClr val="2B2B2B"/>
                </a:solidFill>
                <a:latin typeface="맑은 고딕"/>
              </a:rPr>
              <a:t> 「고른 자리를 분석」하는 기존 서비스와 방향이 반대다. 화성시를 500m 격자로 나눠 칸마다 점수를 매긴다.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7064000" y="20720639"/>
            <a:ext cx="14400000" cy="816768"/>
          </a:xfrm>
          <a:prstGeom prst="roundRect">
            <a:avLst>
              <a:gd name="adj" fmla="val 1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7316000" y="20900639"/>
            <a:ext cx="13896000" cy="456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2440" b="1">
                <a:solidFill>
                  <a:srgbClr val="003670"/>
                </a:solidFill>
                <a:latin typeface="Consolas"/>
              </a:rPr>
              <a:t>score = w_ft·유동인구 + w_dem·상권활성화 − w_comp·경쟁강도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7064000" y="21717407"/>
            <a:ext cx="14400000" cy="1227859"/>
          </a:xfrm>
          <a:prstGeom prst="roundRect">
            <a:avLst>
              <a:gd name="adj" fmla="val 10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7316000" y="21897407"/>
            <a:ext cx="13896000" cy="8678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2000"/>
              </a:lnSpc>
            </a:pPr>
            <a:r>
              <a:rPr sz="2318" b="1">
                <a:solidFill>
                  <a:srgbClr val="003670"/>
                </a:solidFill>
                <a:latin typeface="Consolas"/>
              </a:rPr>
              <a:t>유동인구 = 학교×220 + 카페×90 + 음식점×55</a:t>
            </a:r>
          </a:p>
          <a:p>
            <a:pPr algn="ctr">
              <a:lnSpc>
                <a:spcPct val="132000"/>
              </a:lnSpc>
              <a:spcBef>
                <a:spcPts val="695"/>
              </a:spcBef>
            </a:pPr>
            <a:r>
              <a:rPr sz="2318" b="1">
                <a:solidFill>
                  <a:srgbClr val="003670"/>
                </a:solidFill>
                <a:latin typeface="Consolas"/>
              </a:rPr>
              <a:t>+ 역 승하차×0.15 + 아파트 세대×0.08</a:t>
            </a:r>
          </a:p>
        </p:txBody>
      </p:sp>
      <p:pic>
        <p:nvPicPr>
          <p:cNvPr id="106" name="Picture 105" descr="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64000" y="23305266"/>
            <a:ext cx="2794692" cy="6048000"/>
          </a:xfrm>
          <a:prstGeom prst="rect">
            <a:avLst/>
          </a:prstGeom>
        </p:spPr>
      </p:pic>
      <p:sp>
        <p:nvSpPr>
          <p:cNvPr id="107" name="Rectangle 106"/>
          <p:cNvSpPr/>
          <p:nvPr/>
        </p:nvSpPr>
        <p:spPr>
          <a:xfrm>
            <a:off x="17064000" y="23305266"/>
            <a:ext cx="2794691" cy="6048000"/>
          </a:xfrm>
          <a:prstGeom prst="rect">
            <a:avLst/>
          </a:prstGeom>
          <a:noFill/>
          <a:ln w="1143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434692" y="23269266"/>
            <a:ext cx="11029308" cy="383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가중치를 사장님이 직접 조절한다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434692" y="23833127"/>
            <a:ext cx="11029308" cy="103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196" b="0">
                <a:solidFill>
                  <a:srgbClr val="2B2B2B"/>
                </a:solidFill>
                <a:latin typeface="맑은 고딕"/>
              </a:rPr>
              <a:t>유동인구 · 상권 활성화 · 경쟁 회피 세 축을 슬라이더로 옮기면 추천 자리가 그 자리에서 다시 계산된다. 기본값은 4 : 2 : 4.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434692" y="25265551"/>
            <a:ext cx="11029308" cy="3838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440" b="1">
                <a:solidFill>
                  <a:srgbClr val="003670"/>
                </a:solidFill>
                <a:latin typeface="맑은 고딕"/>
              </a:rPr>
              <a:t>숫자를 지어내지 않는다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434692" y="25829412"/>
            <a:ext cx="11029308" cy="13818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196" b="0">
                <a:solidFill>
                  <a:srgbClr val="2B2B2B"/>
                </a:solidFill>
                <a:latin typeface="맑은 고딕"/>
              </a:rPr>
              <a:t>상가·학교·역·아파트는 모두 실측값이고, 유동인구만 그것을 가중합산한 추정치라 화면에 「예측」이라 적는다. 카드매출도 그 행정동 자료가 없으면 화성시 평균으로 떨어뜨리고 「이 자리 매출이 아닙니다」라고 밝힌다.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434692" y="27535311"/>
            <a:ext cx="11029308" cy="103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196" b="1">
                <a:solidFill>
                  <a:srgbClr val="003670"/>
                </a:solidFill>
                <a:latin typeface="맑은 고딕"/>
              </a:rPr>
              <a:t>경쟁강도 기준도 업종마다 다르다 — </a:t>
            </a:r>
            <a:r>
              <a:rPr sz="2196" b="0">
                <a:solidFill>
                  <a:srgbClr val="2B2B2B"/>
                </a:solidFill>
                <a:latin typeface="맑은 고딕"/>
              </a:rPr>
              <a:t>같은 「10개」라도 카페는 붐비고 음식점은 한산하다. 카페 8·20, 음식점 15·40, 소매업 10·30 이 경계다.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434692" y="28895735"/>
            <a:ext cx="11029308" cy="103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196" b="1">
                <a:solidFill>
                  <a:srgbClr val="003670"/>
                </a:solidFill>
                <a:latin typeface="맑은 고딕"/>
              </a:rPr>
              <a:t>격자에 얹는 것 — </a:t>
            </a:r>
            <a:r>
              <a:rPr sz="2196" b="0">
                <a:solidFill>
                  <a:srgbClr val="2B2B2B"/>
                </a:solidFill>
                <a:latin typeface="맑은 고딕"/>
              </a:rPr>
              <a:t>상가 30,297 · 학교 188 · 지하철역 5 · 아파트 47개 행정동. 반경은 300 · 500 · 1000m 로 바꿔 볼 수 있다.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6560000" y="31283959"/>
            <a:ext cx="15408000" cy="642049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6848000" y="30868159"/>
            <a:ext cx="7776000" cy="756000"/>
          </a:xfrm>
          <a:prstGeom prst="roundRect">
            <a:avLst>
              <a:gd name="adj" fmla="val 42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3660" b="1">
                <a:solidFill>
                  <a:srgbClr val="FFFFFF"/>
                </a:solidFill>
                <a:latin typeface="나눔스퀘어_ac Bold"/>
              </a:rPr>
              <a:t>매일 도는 공고 수집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7064000" y="31948159"/>
            <a:ext cx="2620800" cy="1044000"/>
          </a:xfrm>
          <a:prstGeom prst="roundRect">
            <a:avLst>
              <a:gd name="adj" fmla="val 24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06:11</a:t>
            </a:r>
          </a:p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수집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684800" y="32038159"/>
            <a:ext cx="324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0008800" y="31948159"/>
            <a:ext cx="2620800" cy="1044000"/>
          </a:xfrm>
          <a:prstGeom prst="roundRect">
            <a:avLst>
              <a:gd name="adj" fmla="val 24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guard</a:t>
            </a:r>
          </a:p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회귀 검증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629599" y="32038159"/>
            <a:ext cx="324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2953599" y="31948159"/>
            <a:ext cx="2620800" cy="1044000"/>
          </a:xfrm>
          <a:prstGeom prst="roundRect">
            <a:avLst>
              <a:gd name="adj" fmla="val 24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커밋 · 푸시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5574399" y="32038159"/>
            <a:ext cx="324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5898399" y="31948159"/>
            <a:ext cx="2620800" cy="1044000"/>
          </a:xfrm>
          <a:prstGeom prst="roundRect">
            <a:avLst>
              <a:gd name="adj" fmla="val 24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GitHub Actions</a:t>
            </a:r>
          </a:p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빌드 검사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519199" y="32038159"/>
            <a:ext cx="324000" cy="82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3660" b="1">
                <a:solidFill>
                  <a:srgbClr val="CB6B3D"/>
                </a:solidFill>
                <a:latin typeface="맑은 고딕"/>
              </a:rPr>
              <a:t>›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8843199" y="31948159"/>
            <a:ext cx="2620800" cy="1044000"/>
          </a:xfrm>
          <a:prstGeom prst="roundRect">
            <a:avLst>
              <a:gd name="adj" fmla="val 24000"/>
            </a:avLst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Vercel</a:t>
            </a:r>
          </a:p>
          <a:p>
            <a:pPr algn="ctr"/>
            <a:r>
              <a:rPr sz="2074" b="1">
                <a:solidFill>
                  <a:srgbClr val="FFFFFF"/>
                </a:solidFill>
                <a:latin typeface="맑은 고딕"/>
              </a:rPr>
              <a:t>자동 배포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7064000" y="33208159"/>
            <a:ext cx="14400000" cy="30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952" b="0">
                <a:solidFill>
                  <a:srgbClr val="6B6459"/>
                </a:solidFill>
                <a:latin typeface="맑은 고딕"/>
              </a:rPr>
              <a:t>기업마당 API + 화성시청 고시공고  ·  매일 1회</a:t>
            </a:r>
          </a:p>
        </p:txBody>
      </p:sp>
      <p:sp>
        <p:nvSpPr>
          <p:cNvPr id="126" name="Oval 125"/>
          <p:cNvSpPr/>
          <p:nvPr/>
        </p:nvSpPr>
        <p:spPr>
          <a:xfrm>
            <a:off x="17114400" y="33925648"/>
            <a:ext cx="108000" cy="108000"/>
          </a:xfrm>
          <a:prstGeom prst="ellipse">
            <a:avLst/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7388000" y="33803248"/>
            <a:ext cx="14076000" cy="1458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수집만 제공 서버의 cron 이 맡는다.</a:t>
            </a:r>
            <a:r>
              <a:rPr sz="2318" b="0">
                <a:solidFill>
                  <a:srgbClr val="2B2B2B"/>
                </a:solidFill>
                <a:latin typeface="맑은 고딕"/>
              </a:rPr>
              <a:t> 기업마당 API 가 GitHub 러너 IP 에 응답하지 않아 스케줄을 껐다. Actions 는 대신 빌드 검사를 맡는다 — main 에 올리면 사람 손 없이 Vercel 이 그대로 실서비스에 올리기 때문이다.</a:t>
            </a:r>
          </a:p>
        </p:txBody>
      </p:sp>
      <p:sp>
        <p:nvSpPr>
          <p:cNvPr id="128" name="Oval 127"/>
          <p:cNvSpPr/>
          <p:nvPr/>
        </p:nvSpPr>
        <p:spPr>
          <a:xfrm>
            <a:off x="17114400" y="35441919"/>
            <a:ext cx="108000" cy="108000"/>
          </a:xfrm>
          <a:prstGeom prst="ellipse">
            <a:avLst/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7388000" y="35319519"/>
            <a:ext cx="14076000" cy="10940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총량으로 검증하지 않는다.</a:t>
            </a:r>
            <a:r>
              <a:rPr sz="2318" b="0">
                <a:solidFill>
                  <a:srgbClr val="2B2B2B"/>
                </a:solidFill>
                <a:latin typeface="맑은 고딕"/>
              </a:rPr>
              <a:t> 마감된 공고가 빠지면 딸린 서류도 같이 빠져 「데이터가 깎였다」로 잘못 읽힌다. 양쪽에 다 있는 공고만 골라 [서류·조건·본문]을 견준다.</a:t>
            </a:r>
          </a:p>
        </p:txBody>
      </p:sp>
      <p:sp>
        <p:nvSpPr>
          <p:cNvPr id="130" name="Oval 129"/>
          <p:cNvSpPr/>
          <p:nvPr/>
        </p:nvSpPr>
        <p:spPr>
          <a:xfrm>
            <a:off x="17114400" y="36593522"/>
            <a:ext cx="108000" cy="108000"/>
          </a:xfrm>
          <a:prstGeom prst="ellipse">
            <a:avLst/>
          </a:prstGeom>
          <a:solidFill>
            <a:srgbClr val="CB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7388000" y="36471122"/>
            <a:ext cx="14076000" cy="729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2318" b="1">
                <a:solidFill>
                  <a:srgbClr val="003670"/>
                </a:solidFill>
                <a:latin typeface="맑은 고딕"/>
              </a:rPr>
              <a:t>걸리면 커밋하지 않고 관리자 카카오톡으로 알린다.</a:t>
            </a:r>
            <a:r>
              <a:rPr sz="2318" b="0">
                <a:solidFill>
                  <a:srgbClr val="2B2B2B"/>
                </a:solidFill>
                <a:latin typeface="맑은 고딕"/>
              </a:rPr>
              <a:t> 로그 파일에만 적어두면 아무도 안 본다.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6560000" y="38552258"/>
            <a:ext cx="15408000" cy="29872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6848000" y="38136458"/>
            <a:ext cx="7776000" cy="756000"/>
          </a:xfrm>
          <a:prstGeom prst="roundRect">
            <a:avLst>
              <a:gd name="adj" fmla="val 42000"/>
            </a:avLst>
          </a:prstGeom>
          <a:solidFill>
            <a:srgbClr val="003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0" bIns="0"/>
          <a:lstStyle/>
          <a:p>
            <a:pPr algn="ctr"/>
            <a:r>
              <a:rPr sz="3660" b="1">
                <a:solidFill>
                  <a:srgbClr val="FFFFFF"/>
                </a:solidFill>
                <a:latin typeface="나눔스퀘어_ac Bold"/>
              </a:rPr>
              <a:t>지금 돌아가고 있다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7064000" y="39216458"/>
            <a:ext cx="2649600" cy="1440000"/>
          </a:xfrm>
          <a:prstGeom prst="roundRect">
            <a:avLst>
              <a:gd name="adj" fmla="val 14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7064000" y="39396458"/>
            <a:ext cx="26496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4148" b="1">
                <a:solidFill>
                  <a:srgbClr val="003670"/>
                </a:solidFill>
                <a:latin typeface="나눔스퀘어_ac Bold"/>
              </a:rPr>
              <a:t>74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7064000" y="40080458"/>
            <a:ext cx="26496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707" b="0">
                <a:solidFill>
                  <a:srgbClr val="6B6459"/>
                </a:solidFill>
                <a:latin typeface="맑은 고딕"/>
              </a:rPr>
              <a:t>공고 · 실시간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0001600" y="39216458"/>
            <a:ext cx="2649600" cy="1440000"/>
          </a:xfrm>
          <a:prstGeom prst="roundRect">
            <a:avLst>
              <a:gd name="adj" fmla="val 14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0001600" y="39396458"/>
            <a:ext cx="26496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4148" b="1">
                <a:solidFill>
                  <a:srgbClr val="003670"/>
                </a:solidFill>
                <a:latin typeface="나눔스퀘어_ac Bold"/>
              </a:rP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0001600" y="40080458"/>
            <a:ext cx="26496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707" b="0">
                <a:solidFill>
                  <a:srgbClr val="6B6459"/>
                </a:solidFill>
                <a:latin typeface="맑은 고딕"/>
              </a:rPr>
              <a:t>조건축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2939200" y="39216458"/>
            <a:ext cx="2649600" cy="1440000"/>
          </a:xfrm>
          <a:prstGeom prst="roundRect">
            <a:avLst>
              <a:gd name="adj" fmla="val 14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2939200" y="39396458"/>
            <a:ext cx="26496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4148" b="1">
                <a:solidFill>
                  <a:srgbClr val="003670"/>
                </a:solidFill>
                <a:latin typeface="나눔스퀘어_ac Bold"/>
              </a:rP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2939200" y="40080458"/>
            <a:ext cx="26496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707" b="0">
                <a:solidFill>
                  <a:srgbClr val="6B6459"/>
                </a:solidFill>
                <a:latin typeface="맑은 고딕"/>
              </a:rPr>
              <a:t>세무 항목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5876800" y="39216458"/>
            <a:ext cx="2649600" cy="1440000"/>
          </a:xfrm>
          <a:prstGeom prst="roundRect">
            <a:avLst>
              <a:gd name="adj" fmla="val 14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5876800" y="39396458"/>
            <a:ext cx="26496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4148" b="1">
                <a:solidFill>
                  <a:srgbClr val="003670"/>
                </a:solidFill>
                <a:latin typeface="나눔스퀘어_ac Bold"/>
              </a:rPr>
              <a:t>43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876800" y="40080458"/>
            <a:ext cx="26496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707" b="0">
                <a:solidFill>
                  <a:srgbClr val="6B6459"/>
                </a:solidFill>
                <a:latin typeface="맑은 고딕"/>
              </a:rPr>
              <a:t>행정용어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8814400" y="39216458"/>
            <a:ext cx="2649600" cy="1440000"/>
          </a:xfrm>
          <a:prstGeom prst="roundRect">
            <a:avLst>
              <a:gd name="adj" fmla="val 14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8814400" y="39396458"/>
            <a:ext cx="26496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4148" b="1">
                <a:solidFill>
                  <a:srgbClr val="003670"/>
                </a:solidFill>
                <a:latin typeface="나눔스퀘어_ac Bold"/>
              </a:rPr>
              <a:t>52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8814400" y="40080458"/>
            <a:ext cx="26496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707" b="0">
                <a:solidFill>
                  <a:srgbClr val="6B6459"/>
                </a:solidFill>
                <a:latin typeface="맑은 고딕"/>
              </a:rPr>
              <a:t>서류 종류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7064000" y="40728458"/>
            <a:ext cx="14400000" cy="30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4000"/>
              </a:lnSpc>
            </a:pPr>
            <a:r>
              <a:rPr sz="1952" b="0">
                <a:solidFill>
                  <a:srgbClr val="6B6459"/>
                </a:solidFill>
                <a:latin typeface="맑은 고딕"/>
              </a:rPr>
              <a:t>카카오 로그인 없이도 전부 쓸 수 있다  ·  기기 저장이 원본, 서버는 통로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